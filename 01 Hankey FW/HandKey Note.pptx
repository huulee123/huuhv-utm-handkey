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C283-5ED1-C9E9-30A0-70B8617603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9A9A7-03FC-79F2-1DFE-8895E6B46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30D6B-5600-F67C-A01F-AF5989247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6A56-4DF9-4E58-8CB5-29B055A245D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9020C-5A33-5731-7C38-501B29185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1F0DC-7EE6-BD11-EFB6-B050B22C2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AD0C-34EF-48EB-9EB3-1198C10E3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922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C6042-54EC-2A56-9700-DD5CF99A6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A190E-7A73-A257-13C8-A158E2774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48A08-9DB9-23E7-2443-4A9148629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6A56-4DF9-4E58-8CB5-29B055A245D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5268B-04C1-C9FA-6C4F-2BC610262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70BB3-1607-E17E-9BAF-48F11B05A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AD0C-34EF-48EB-9EB3-1198C10E3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406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02521-8616-780B-650F-C85D541FF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96E9A-2B79-B54E-F103-5864440EC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0B9D0-DC7B-226F-115D-F09E5B700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6A56-4DF9-4E58-8CB5-29B055A245D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944B2-2D45-B1BE-7B6D-F72E1D7E8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50B12D-A69B-77A1-1BBE-E1CCD37D1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AD0C-34EF-48EB-9EB3-1198C10E3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670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C0E98-A15B-3299-2F1A-9DB73CF4D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B7C6A-D235-1614-2E32-E7691700E0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F072E1-ABB2-7116-CEAA-1908C7439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8D0315-DEF6-139A-702E-8DD55CD53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6A56-4DF9-4E58-8CB5-29B055A245D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ED09CF-1337-B883-4375-F256525BE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9D8F82-88FE-82F3-A277-3E4235D34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AD0C-34EF-48EB-9EB3-1198C10E3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096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44072-C637-50E6-16ED-4B1200426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1171E-03DC-4E4F-22CD-F9E86C5C6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B564F8-9398-B8A5-1B69-B64129A44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78CA71-5DAB-2F7A-8AD5-3C1DF4B7A2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55824D-39AC-3D93-3D9B-DEE05606C0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F5131B-D84D-FE9A-EAEC-4ABBE5A23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6A56-4DF9-4E58-8CB5-29B055A245D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6F8EC8-3D59-37E7-6768-D89399941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1859BB-17D2-76CB-A426-DE5A81B52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AD0C-34EF-48EB-9EB3-1198C10E3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42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B6704-545C-AB9B-DAB6-8295362DC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BB6281-D6EB-533A-9E5F-AA884F142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6A56-4DF9-4E58-8CB5-29B055A245D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AB5B93-39EE-309E-AF5E-D6288003C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7D9864-D5B0-E6AF-9A0D-7B3D6824C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AD0C-34EF-48EB-9EB3-1198C10E3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87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7381A8-5D23-AC60-8FF3-8523CB098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6A56-4DF9-4E58-8CB5-29B055A245D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A64BED-9B00-980E-4A44-D6849364F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55B02-6C16-1D2A-AC05-2BB505F26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AD0C-34EF-48EB-9EB3-1198C10E3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138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9FFEA-B18E-A86E-0646-C31853A64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78A54-113B-D1F3-5790-A88F7F95AC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1C7EBD-22D4-072C-1F29-208E6612B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731ABE-F120-94F6-BD5D-34CA72197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6A56-4DF9-4E58-8CB5-29B055A245D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236113-2DDE-8D8A-7319-82246AC20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FE4E76-0B0C-E3D7-8322-FE93EBFF4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AD0C-34EF-48EB-9EB3-1198C10E3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493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97138-8ACE-782C-E5EE-30FDE4722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ECA14D-42AF-AE1B-CF6B-9D07F2B76A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9590FC-4147-98C0-C810-836C9EFCD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2A4BE1-0F5B-A220-F2CE-2AB6CA40F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6A56-4DF9-4E58-8CB5-29B055A245D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26CC9-8B8F-FA0E-7840-008835A57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95663-4BB6-5DF2-3E3D-BBDB0864D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AD0C-34EF-48EB-9EB3-1198C10E3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86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CBA-470B-68D3-7756-38D3D87EB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9F344-7BA4-E11B-17F2-A9622BF0B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374D9-A778-B063-1F9C-EA7C73088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6A56-4DF9-4E58-8CB5-29B055A245D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C52894-9010-8FA2-13F5-E5E9B096D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BEFE1-7748-83AB-E892-3EB0333F1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AD0C-34EF-48EB-9EB3-1198C10E3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629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BEDD1D-92DD-F87B-D806-E70625EFFC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A6945-28EE-1540-F602-B90D69BF2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78919-58E9-CA20-9931-3D63751FC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6A56-4DF9-4E58-8CB5-29B055A245D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FE6BE-EE81-F956-3437-A0C598BD4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38C43-742C-F593-5445-A2C05259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8AD0C-34EF-48EB-9EB3-1198C10E3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691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02CE44-0C80-CF06-99DE-86F71C3DF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F230C3-C4E9-9BF9-C603-613CEE346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85ACF-87C1-6CE1-281C-537A960551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E76A56-4DF9-4E58-8CB5-29B055A245D9}" type="datetimeFigureOut">
              <a:rPr lang="en-US" smtClean="0"/>
              <a:t>11/19/2024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90DD9-88C1-B2C3-D3D7-6284A9BEC4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F661C-905C-80A3-0B8E-D935E2EB64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48AD0C-34EF-48EB-9EB3-1198C10E3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207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unity.st.com/t5/stm32-mcus-products/uart-how-the-overflow-works/td-p/625600" TargetMode="External"/><Relationship Id="rId2" Type="http://schemas.openxmlformats.org/officeDocument/2006/relationships/hyperlink" Target="https://community.st.com/t5/stm32-mcus-embedded-software/ore-flag-of-usart-isr-is-not-being-cleared-by-hal-layer-in-stm32/td-p/132990#:~:text=controller%20as%20well.-,NOTE,-%3A%20Whenever%20I%20paste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7A9C74-BA0A-5C89-82CC-C16B6945A8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PCB</a:t>
            </a:r>
            <a:endParaRPr lang="en-US" sz="2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6420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702F9A-C2DD-6A61-23EC-80EEFC51E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5F06533-8E0D-7DBB-931A-C7763C9D2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9D788F-9BF5-6291-D21B-1AD5D3696E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852FD5-7FC0-3CB1-9B09-F05D0F5ED0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Layout</a:t>
            </a:r>
            <a:endParaRPr lang="en-US" sz="1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A4C46C-60B0-BC3A-1337-0049283AEA7C}"/>
              </a:ext>
            </a:extLst>
          </p:cNvPr>
          <p:cNvSpPr/>
          <p:nvPr/>
        </p:nvSpPr>
        <p:spPr>
          <a:xfrm>
            <a:off x="3668871" y="675118"/>
            <a:ext cx="5298392" cy="58196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1212C4-990D-14BA-B3A2-AD9A8F8D28A0}"/>
              </a:ext>
            </a:extLst>
          </p:cNvPr>
          <p:cNvSpPr/>
          <p:nvPr/>
        </p:nvSpPr>
        <p:spPr>
          <a:xfrm>
            <a:off x="5335301" y="1213503"/>
            <a:ext cx="1939895" cy="11365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LCD</a:t>
            </a:r>
            <a:endParaRPr lang="vi-V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404820E-8BEA-A981-5BEF-9641AF7C9EFF}"/>
              </a:ext>
            </a:extLst>
          </p:cNvPr>
          <p:cNvSpPr/>
          <p:nvPr/>
        </p:nvSpPr>
        <p:spPr>
          <a:xfrm>
            <a:off x="4147435" y="1213503"/>
            <a:ext cx="811851" cy="31619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Led4</a:t>
            </a:r>
            <a:endParaRPr lang="vi-VN" sz="1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87196D9-331C-B266-FCB6-AC3795D78659}"/>
              </a:ext>
            </a:extLst>
          </p:cNvPr>
          <p:cNvSpPr/>
          <p:nvPr/>
        </p:nvSpPr>
        <p:spPr>
          <a:xfrm>
            <a:off x="4147435" y="1909985"/>
            <a:ext cx="811851" cy="31619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Led3</a:t>
            </a:r>
            <a:endParaRPr lang="vi-VN" sz="1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9918128-A591-1C32-B02A-6DF52F2B8205}"/>
              </a:ext>
            </a:extLst>
          </p:cNvPr>
          <p:cNvSpPr/>
          <p:nvPr/>
        </p:nvSpPr>
        <p:spPr>
          <a:xfrm>
            <a:off x="7636968" y="1219784"/>
            <a:ext cx="811851" cy="31619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Led2</a:t>
            </a:r>
            <a:endParaRPr lang="vi-VN" sz="1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831AEB7-E990-AFE8-2CE6-84B0B9266E33}"/>
              </a:ext>
            </a:extLst>
          </p:cNvPr>
          <p:cNvSpPr/>
          <p:nvPr/>
        </p:nvSpPr>
        <p:spPr>
          <a:xfrm>
            <a:off x="7636968" y="1916266"/>
            <a:ext cx="811851" cy="316194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Led1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A347FF-8E80-46EA-B44A-EA1CF12D7EF4}"/>
              </a:ext>
            </a:extLst>
          </p:cNvPr>
          <p:cNvSpPr/>
          <p:nvPr/>
        </p:nvSpPr>
        <p:spPr>
          <a:xfrm>
            <a:off x="4019248" y="2901297"/>
            <a:ext cx="811851" cy="3418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&lt;</a:t>
            </a:r>
            <a:endParaRPr lang="vi-VN" sz="12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ED46C7-2611-5A42-D841-B6DC86063E72}"/>
              </a:ext>
            </a:extLst>
          </p:cNvPr>
          <p:cNvSpPr/>
          <p:nvPr/>
        </p:nvSpPr>
        <p:spPr>
          <a:xfrm>
            <a:off x="5792500" y="2901297"/>
            <a:ext cx="811851" cy="3418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^</a:t>
            </a:r>
            <a:endParaRPr lang="vi-VN" sz="12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C669BC-8226-5468-9CC8-E0A135F048FD}"/>
              </a:ext>
            </a:extLst>
          </p:cNvPr>
          <p:cNvSpPr/>
          <p:nvPr/>
        </p:nvSpPr>
        <p:spPr>
          <a:xfrm>
            <a:off x="7521599" y="2901297"/>
            <a:ext cx="811851" cy="3418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v</a:t>
            </a:r>
            <a:endParaRPr lang="vi-VN" sz="12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0BA08A6-425B-EC9D-07C8-B626AC4E04D6}"/>
              </a:ext>
            </a:extLst>
          </p:cNvPr>
          <p:cNvSpPr/>
          <p:nvPr/>
        </p:nvSpPr>
        <p:spPr>
          <a:xfrm>
            <a:off x="4019248" y="3849878"/>
            <a:ext cx="811851" cy="3418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FUP</a:t>
            </a:r>
            <a:endParaRPr lang="vi-VN" sz="12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69839C0-8B7D-2BC8-C3C4-D6D59123845C}"/>
              </a:ext>
            </a:extLst>
          </p:cNvPr>
          <p:cNvSpPr/>
          <p:nvPr/>
        </p:nvSpPr>
        <p:spPr>
          <a:xfrm>
            <a:off x="5792500" y="4653189"/>
            <a:ext cx="811851" cy="3418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STOP</a:t>
            </a:r>
            <a:endParaRPr lang="vi-VN" sz="12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838D82A-8F75-4D81-5804-C780F89CFFE1}"/>
              </a:ext>
            </a:extLst>
          </p:cNvPr>
          <p:cNvSpPr/>
          <p:nvPr/>
        </p:nvSpPr>
        <p:spPr>
          <a:xfrm>
            <a:off x="7521599" y="3849878"/>
            <a:ext cx="811851" cy="3418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UP</a:t>
            </a:r>
            <a:endParaRPr lang="vi-VN" sz="12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EDBB341-1308-11E1-A743-6E262ABA570D}"/>
              </a:ext>
            </a:extLst>
          </p:cNvPr>
          <p:cNvSpPr/>
          <p:nvPr/>
        </p:nvSpPr>
        <p:spPr>
          <a:xfrm>
            <a:off x="4019248" y="5467300"/>
            <a:ext cx="811851" cy="3418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FDN</a:t>
            </a:r>
            <a:endParaRPr lang="vi-VN" sz="12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ABE17F8-D00B-CB1D-5E26-C22AAF4A1799}"/>
              </a:ext>
            </a:extLst>
          </p:cNvPr>
          <p:cNvSpPr/>
          <p:nvPr/>
        </p:nvSpPr>
        <p:spPr>
          <a:xfrm>
            <a:off x="7521599" y="5467300"/>
            <a:ext cx="811851" cy="3418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DN</a:t>
            </a:r>
            <a:endParaRPr lang="vi-VN" sz="1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3CF9D4-D514-A7EF-B5A2-C5AF67DD02E7}"/>
              </a:ext>
            </a:extLst>
          </p:cNvPr>
          <p:cNvSpPr txBox="1"/>
          <p:nvPr/>
        </p:nvSpPr>
        <p:spPr>
          <a:xfrm>
            <a:off x="9451649" y="675117"/>
            <a:ext cx="26406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Led4: stm32 startup</a:t>
            </a:r>
          </a:p>
          <a:p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Led3: com respond incoming</a:t>
            </a:r>
          </a:p>
          <a:p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Led2: Running</a:t>
            </a:r>
          </a:p>
          <a:p>
            <a:r>
              <a:rPr lang="en-US" sz="1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Led1: Limit </a:t>
            </a:r>
            <a:endParaRPr lang="vi-VN" sz="1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517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2A8FCB-E13E-4FA8-5653-83CAF2C4D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C041C31-80AF-2D5A-EA34-37136F6DA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5E272F-1AD7-F36E-CFFD-6D36B8F82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2E5C1B-0BE3-7135-5E60-672D426722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CMD</a:t>
            </a:r>
            <a:endParaRPr lang="en-US" sz="1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AF6B7A9-4886-57C6-41BC-D881D9F688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183300"/>
              </p:ext>
            </p:extLst>
          </p:nvPr>
        </p:nvGraphicFramePr>
        <p:xfrm>
          <a:off x="3728217" y="189827"/>
          <a:ext cx="8398265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3245">
                  <a:extLst>
                    <a:ext uri="{9D8B030D-6E8A-4147-A177-3AD203B41FA5}">
                      <a16:colId xmlns:a16="http://schemas.microsoft.com/office/drawing/2014/main" val="2323764735"/>
                    </a:ext>
                  </a:extLst>
                </a:gridCol>
                <a:gridCol w="2640650">
                  <a:extLst>
                    <a:ext uri="{9D8B030D-6E8A-4147-A177-3AD203B41FA5}">
                      <a16:colId xmlns:a16="http://schemas.microsoft.com/office/drawing/2014/main" val="775711540"/>
                    </a:ext>
                  </a:extLst>
                </a:gridCol>
                <a:gridCol w="1452785">
                  <a:extLst>
                    <a:ext uri="{9D8B030D-6E8A-4147-A177-3AD203B41FA5}">
                      <a16:colId xmlns:a16="http://schemas.microsoft.com/office/drawing/2014/main" val="2583002240"/>
                    </a:ext>
                  </a:extLst>
                </a:gridCol>
                <a:gridCol w="3281585">
                  <a:extLst>
                    <a:ext uri="{9D8B030D-6E8A-4147-A177-3AD203B41FA5}">
                      <a16:colId xmlns:a16="http://schemas.microsoft.com/office/drawing/2014/main" val="15251048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CMD</a:t>
                      </a:r>
                      <a:endParaRPr lang="vi-VN" sz="14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DES.</a:t>
                      </a:r>
                      <a:endParaRPr lang="vi-VN" sz="14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RESPOND</a:t>
                      </a:r>
                      <a:endParaRPr lang="vi-VN" sz="14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vi-VN" sz="14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238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FU</a:t>
                      </a:r>
                      <a:r>
                        <a:rPr lang="en-US" sz="14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10000</a:t>
                      </a:r>
                      <a:endParaRPr lang="vi-VN" sz="14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Fast up + Speed 100%</a:t>
                      </a:r>
                      <a:endParaRPr lang="vi-VN" sz="14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OKFU</a:t>
                      </a:r>
                      <a:r>
                        <a:rPr lang="en-US" sz="1400">
                          <a:solidFill>
                            <a:schemeClr val="accent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010</a:t>
                      </a:r>
                      <a:endParaRPr lang="vi-VN" sz="1400">
                        <a:solidFill>
                          <a:schemeClr val="accent6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010 : limit up</a:t>
                      </a:r>
                      <a:endParaRPr lang="vi-VN" sz="14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5843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FD</a:t>
                      </a:r>
                      <a:r>
                        <a:rPr lang="en-US" sz="14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09000</a:t>
                      </a:r>
                      <a:endParaRPr lang="vi-VN" sz="14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Fast down + Speed 90%</a:t>
                      </a:r>
                      <a:endParaRPr lang="vi-VN" sz="14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OKFD</a:t>
                      </a:r>
                      <a:r>
                        <a:rPr lang="en-US" sz="1400">
                          <a:solidFill>
                            <a:schemeClr val="accent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</a:t>
                      </a:r>
                      <a:endParaRPr lang="vi-VN" sz="1400">
                        <a:solidFill>
                          <a:schemeClr val="accent6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 : running</a:t>
                      </a:r>
                      <a:endParaRPr lang="vi-VN" sz="14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5714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FS</a:t>
                      </a:r>
                      <a:r>
                        <a:rPr lang="en-US" sz="14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10000</a:t>
                      </a:r>
                      <a:endParaRPr lang="vi-VN" sz="14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Fast stop + Speed 100%</a:t>
                      </a:r>
                      <a:endParaRPr lang="vi-VN" sz="14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OKFS</a:t>
                      </a:r>
                      <a:r>
                        <a:rPr lang="en-US" sz="1400">
                          <a:solidFill>
                            <a:schemeClr val="accent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011</a:t>
                      </a:r>
                      <a:endParaRPr lang="vi-VN" sz="1400">
                        <a:solidFill>
                          <a:schemeClr val="accent6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011 : limit up &amp; down</a:t>
                      </a:r>
                      <a:endParaRPr lang="vi-VN" sz="14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837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UP</a:t>
                      </a:r>
                      <a:r>
                        <a:rPr lang="en-US" sz="14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10000</a:t>
                      </a:r>
                      <a:endParaRPr lang="vi-VN" sz="14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Up + Speed 100%</a:t>
                      </a:r>
                      <a:endParaRPr lang="vi-VN" sz="14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OKUP</a:t>
                      </a:r>
                      <a:r>
                        <a:rPr lang="en-US" sz="1400">
                          <a:solidFill>
                            <a:schemeClr val="accent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011</a:t>
                      </a:r>
                      <a:endParaRPr lang="vi-VN" sz="1400">
                        <a:solidFill>
                          <a:schemeClr val="accent6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011 : limit up &amp; down</a:t>
                      </a:r>
                      <a:endParaRPr lang="vi-VN" sz="14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0161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DN</a:t>
                      </a:r>
                      <a:r>
                        <a:rPr lang="en-US" sz="14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09000</a:t>
                      </a:r>
                      <a:endParaRPr lang="vi-VN" sz="14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Dp + Speed 90%</a:t>
                      </a:r>
                      <a:endParaRPr lang="vi-VN" sz="14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OKDN</a:t>
                      </a:r>
                      <a:r>
                        <a:rPr lang="en-US" sz="1400">
                          <a:solidFill>
                            <a:schemeClr val="accent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000</a:t>
                      </a:r>
                      <a:endParaRPr lang="vi-VN" sz="1400">
                        <a:solidFill>
                          <a:schemeClr val="accent6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000 : no action</a:t>
                      </a:r>
                      <a:endParaRPr lang="vi-VN" sz="14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7304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FF0000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</a:t>
                      </a:r>
                      <a:r>
                        <a:rPr lang="en-US" sz="14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00000</a:t>
                      </a:r>
                      <a:endParaRPr lang="vi-VN" sz="14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Stop + Speed 100%</a:t>
                      </a:r>
                      <a:endParaRPr lang="vi-VN" sz="14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OKST</a:t>
                      </a:r>
                      <a:r>
                        <a:rPr lang="en-US" sz="1400">
                          <a:solidFill>
                            <a:schemeClr val="accent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000</a:t>
                      </a:r>
                      <a:endParaRPr lang="vi-VN" sz="1400">
                        <a:solidFill>
                          <a:schemeClr val="accent6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…</a:t>
                      </a:r>
                      <a:endParaRPr lang="vi-VN" sz="14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018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RD00000</a:t>
                      </a:r>
                      <a:endParaRPr lang="vi-VN" sz="14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Fast up + Speed 100%</a:t>
                      </a:r>
                      <a:endParaRPr lang="vi-VN" sz="14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OKRD</a:t>
                      </a:r>
                      <a:r>
                        <a:rPr lang="en-US" sz="1400">
                          <a:solidFill>
                            <a:schemeClr val="accent6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000</a:t>
                      </a:r>
                      <a:endParaRPr lang="vi-VN" sz="1400">
                        <a:solidFill>
                          <a:schemeClr val="accent6"/>
                        </a:solidFill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…</a:t>
                      </a:r>
                      <a:endParaRPr lang="vi-VN" sz="14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603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vi-VN" sz="14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vi-VN" sz="14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vi-VN" sz="14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vi-VN" sz="14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894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1053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946A54-2913-228F-3752-BC1B1C0B1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C546ED-9400-E6A2-D2C2-9A29EA5997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DB9BC7-BDE4-7868-3468-EB71D7E258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880310-3F7D-AFAA-721E-4A630E80AE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 run</a:t>
            </a:r>
            <a:br>
              <a:rPr lang="en-US" sz="3200" kern="12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3200" kern="120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UART</a:t>
            </a:r>
            <a:endParaRPr lang="en-US" sz="1050" kern="1200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F982B9A-5051-DF6B-E6FA-8688BA5AC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8937" y="707068"/>
            <a:ext cx="8434388" cy="118618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0791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vi-VN" altLang="vi-VN" sz="1000" b="0" i="0" u="none" strike="noStrike" cap="none" normalizeH="0" baseline="0">
                <a:ln>
                  <a:noFill/>
                </a:ln>
                <a:solidFill>
                  <a:srgbClr val="3E3E3E"/>
                </a:solidFill>
                <a:effectLst/>
                <a:latin typeface="Menlo"/>
              </a:rPr>
              <a:t>if (((isrflags &amp; USART_ISR_ORE) != 0U)  &amp;&amp; (((cr1its &amp; USART_CR1_RXNEIE_RXFNEIE) != 0U) ||  ((cr3its &amp; (USART_CR3_RXFTIE |</a:t>
            </a:r>
            <a:r>
              <a:rPr kumimoji="0" lang="en-US" altLang="vi-VN" sz="1000" b="0" i="0" u="none" strike="noStrike" cap="none" normalizeH="0" baseline="0">
                <a:ln>
                  <a:noFill/>
                </a:ln>
                <a:solidFill>
                  <a:srgbClr val="3E3E3E"/>
                </a:solidFill>
                <a:effectLst/>
                <a:latin typeface="Menlo"/>
              </a:rPr>
              <a:t> </a:t>
            </a:r>
            <a:r>
              <a:rPr kumimoji="0" lang="vi-VN" altLang="vi-VN" sz="1000" b="0" i="0" u="none" strike="noStrike" cap="none" normalizeH="0" baseline="0">
                <a:ln>
                  <a:noFill/>
                </a:ln>
                <a:solidFill>
                  <a:srgbClr val="3E3E3E"/>
                </a:solidFill>
                <a:effectLst/>
                <a:latin typeface="Menlo"/>
              </a:rPr>
              <a:t>USART_CR3_EIE)) != 0U)))</a:t>
            </a:r>
            <a:endParaRPr kumimoji="0" lang="en-US" altLang="vi-VN" sz="1000" b="0" i="0" u="none" strike="noStrike" cap="none" normalizeH="0" baseline="0">
              <a:ln>
                <a:noFill/>
              </a:ln>
              <a:solidFill>
                <a:srgbClr val="3E3E3E"/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vi-VN" sz="1000">
                <a:solidFill>
                  <a:srgbClr val="3E3E3E"/>
                </a:solidFill>
                <a:latin typeface="Menlo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vi-VN" sz="1000" b="0" i="0" u="none" strike="noStrike" cap="none" normalizeH="0" baseline="0">
                <a:ln>
                  <a:noFill/>
                </a:ln>
                <a:solidFill>
                  <a:srgbClr val="3E3E3E"/>
                </a:solidFill>
                <a:effectLst/>
                <a:latin typeface="Menlo"/>
              </a:rPr>
              <a:t>	SET_BIT(huart-&gt;Instance-&gt;ICR, UART_CLEAR_OREF); //set the ORECF bit to clear the ORE bit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vi-VN" sz="1000" b="0" i="0" u="none" strike="noStrike" cap="none" normalizeH="0" baseline="0">
                <a:ln>
                  <a:noFill/>
                </a:ln>
                <a:solidFill>
                  <a:srgbClr val="3E3E3E"/>
                </a:solidFill>
                <a:effectLst/>
                <a:latin typeface="Menlo"/>
              </a:rPr>
              <a:t>	READ_REG(huart-&gt;Instance-&gt;RDR); //read the RDR register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vi-VN" sz="1000">
                <a:solidFill>
                  <a:srgbClr val="3E3E3E"/>
                </a:solidFill>
                <a:latin typeface="Menlo"/>
              </a:rPr>
              <a:t>	__HAL_UART_CLEAR_FLAG(huart, UART_CLEAR_OREF);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vi-VN" sz="1000" b="0" i="0" u="none" strike="noStrike" cap="none" normalizeH="0" baseline="0">
                <a:ln>
                  <a:noFill/>
                </a:ln>
                <a:solidFill>
                  <a:srgbClr val="3E3E3E"/>
                </a:solidFill>
                <a:effectLst/>
                <a:latin typeface="Menlo"/>
              </a:rPr>
              <a:t>	huart-&gt;ErrorCode |= HAL_UART_ERROR_ORE;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vi-VN" sz="1000">
                <a:solidFill>
                  <a:srgbClr val="3E3E3E"/>
                </a:solidFill>
                <a:latin typeface="Menlo"/>
              </a:rPr>
              <a:t>}</a:t>
            </a:r>
            <a:endParaRPr kumimoji="0" lang="vi-VN" altLang="vi-V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D627B7-49D4-9DAF-C99B-3148D01CB477}"/>
              </a:ext>
            </a:extLst>
          </p:cNvPr>
          <p:cNvSpPr txBox="1"/>
          <p:nvPr/>
        </p:nvSpPr>
        <p:spPr>
          <a:xfrm>
            <a:off x="3819525" y="2074363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1400">
                <a:hlinkClick r:id="rId2"/>
              </a:rPr>
              <a:t>https://community.st.com/t5/stm32-mcus-embedded-software/ore-flag-of-usart-isr-is-not-being-cleared-by-hal-layer-in-stm32/td-p/132990#:~:text=controller%20as%20well.-,NOTE,-%3A%20Whenever%20I%20paste</a:t>
            </a:r>
            <a:endParaRPr lang="en-US" sz="1400"/>
          </a:p>
          <a:p>
            <a:endParaRPr lang="en-US" sz="1400"/>
          </a:p>
          <a:p>
            <a:r>
              <a:rPr lang="en-US" sz="1400">
                <a:hlinkClick r:id="rId3"/>
              </a:rPr>
              <a:t>https://community.st.com/t5/stm32-mcus-products/uart-how-the-overflow-works/td-p/625600</a:t>
            </a:r>
            <a:endParaRPr lang="en-US" sz="1400"/>
          </a:p>
          <a:p>
            <a:endParaRPr lang="en-US" sz="1400"/>
          </a:p>
          <a:p>
            <a:endParaRPr lang="vi-VN" sz="1400"/>
          </a:p>
        </p:txBody>
      </p:sp>
    </p:spTree>
    <p:extLst>
      <p:ext uri="{BB962C8B-B14F-4D97-AF65-F5344CB8AC3E}">
        <p14:creationId xmlns:p14="http://schemas.microsoft.com/office/powerpoint/2010/main" val="1715781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839</TotalTime>
  <Words>293</Words>
  <Application>Microsoft Office PowerPoint</Application>
  <PresentationFormat>Widescreen</PresentationFormat>
  <Paragraphs>62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Menlo</vt:lpstr>
      <vt:lpstr>Tahoma</vt:lpstr>
      <vt:lpstr>Office Theme</vt:lpstr>
      <vt:lpstr>PCB</vt:lpstr>
      <vt:lpstr>Layout</vt:lpstr>
      <vt:lpstr>CMD</vt:lpstr>
      <vt:lpstr>Over run UART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UTM</dc:title>
  <dc:creator>Lê Văn Trọng Hữu</dc:creator>
  <cp:lastModifiedBy>Lê Văn Trọng Hữu</cp:lastModifiedBy>
  <cp:revision>14</cp:revision>
  <cp:lastPrinted>2024-06-28T09:23:35Z</cp:lastPrinted>
  <dcterms:created xsi:type="dcterms:W3CDTF">2024-01-25T11:11:05Z</dcterms:created>
  <dcterms:modified xsi:type="dcterms:W3CDTF">2024-11-19T04:54:02Z</dcterms:modified>
</cp:coreProperties>
</file>